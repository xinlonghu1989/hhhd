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23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spc="300" kern="0" dirty="0">
                <a:solidFill>
                  <a:srgbClr val="B08D5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PUBTEX ｜ SALES FORECAST SIMULATOR</a:t>
            </a:r>
            <a:endParaRPr lang="ja-JP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3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出版物 売れ行き予測シミュレーター ― 現状ロジック</a:t>
            </a:r>
            <a:endParaRPr lang="ja-JP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前フェーズ成果物の処理フローと重要ポイントの整理</a:t>
            </a:r>
            <a:endParaRPr lang="ja-JP" sz="1200" dirty="0"/>
          </a:p>
        </p:txBody>
      </p:sp>
      <p:sp>
        <p:nvSpPr>
          <p:cNvPr id="6" name="Shape 4"/>
          <p:cNvSpPr/>
          <p:nvPr/>
        </p:nvSpPr>
        <p:spPr>
          <a:xfrm>
            <a:off x="9646920" y="566928"/>
            <a:ext cx="1965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5669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本フェーズ：内容理解 → 売上予測</a:t>
            </a:r>
            <a:endParaRPr lang="ja-JP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11064240" cy="841248"/>
          </a:xfrm>
          <a:prstGeom prst="rect">
            <a:avLst/>
          </a:prstGeom>
          <a:solidFill>
            <a:srgbClr val="FBFCFE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81328"/>
            <a:ext cx="45720" cy="84124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5910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25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予測ターゲット＝新刊（販売実績ゼロ）の店舗別売上。</a:t>
            </a:r>
            <a:pPr indent="0" marL="0">
              <a:lnSpc>
                <a:spcPct val="110000"/>
              </a:lnSpc>
              <a:buNone/>
            </a:pPr>
            <a:r>
              <a:rPr lang="ja-JP" altLang="en-US" sz="1250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実績のない新刊を、</a:t>
            </a:r>
            <a:pPr indent="0" marL="0">
              <a:lnSpc>
                <a:spcPct val="110000"/>
              </a:lnSpc>
              <a:buNone/>
            </a:pPr>
            <a:r>
              <a:rPr lang="ja-JP" altLang="en-US" sz="125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内容が似た既存本の販売パターンに当てはめて</a:t>
            </a:r>
            <a:pPr indent="0" marL="0">
              <a:lnSpc>
                <a:spcPct val="110000"/>
              </a:lnSpc>
              <a:buNone/>
            </a:pPr>
            <a:r>
              <a:rPr lang="ja-JP" altLang="en-US" sz="1250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予測する（コールドスタート対策）ことが本ロジックの狙い。</a:t>
            </a:r>
            <a:endParaRPr lang="ja-JP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19842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最終出力＝</a:t>
            </a:r>
            <a:pPr indent="0" marL="0">
              <a:buNone/>
            </a:pPr>
            <a:r>
              <a:rPr lang="ja-JP" altLang="en-US" sz="1050" b="1" dirty="0">
                <a:solidFill>
                  <a:srgbClr val="B08D5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新刊 × 店舗 の販売冊数</a:t>
            </a:r>
            <a:pPr indent="0" marL="0">
              <a:buNone/>
            </a:pPr>
            <a:r>
              <a:rPr lang="ja-JP" altLang="en-US" sz="10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　／　配本数の決定（最適化層）は次フェーズ</a:t>
            </a:r>
            <a:endParaRPr lang="ja-JP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87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spc="250" kern="0" dirty="0">
                <a:solidFill>
                  <a:srgbClr val="AEB6C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01–05 ｜ コンテンツのクラスタリング</a:t>
            </a:r>
            <a:endParaRPr lang="ja-JP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601468"/>
            <a:ext cx="8138160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779776"/>
            <a:ext cx="0" cy="141732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2779776"/>
            <a:ext cx="0" cy="141732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2779776"/>
            <a:ext cx="0" cy="141732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0032" y="2779776"/>
            <a:ext cx="0" cy="141732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77977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</a:t>
            </a:r>
            <a:endParaRPr lang="ja-JP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302666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概要文（約400字）</a:t>
            </a:r>
            <a:endParaRPr lang="ja-JP" sz="1250" dirty="0"/>
          </a:p>
        </p:txBody>
      </p:sp>
      <p:sp>
        <p:nvSpPr>
          <p:cNvPr id="20" name="Text 18"/>
          <p:cNvSpPr/>
          <p:nvPr/>
        </p:nvSpPr>
        <p:spPr>
          <a:xfrm>
            <a:off x="676656" y="341071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各出版物の内容記述をテキスト入力として取得。</a:t>
            </a:r>
            <a:endParaRPr lang="ja-JP" sz="950" dirty="0"/>
          </a:p>
        </p:txBody>
      </p:sp>
      <p:sp>
        <p:nvSpPr>
          <p:cNvPr id="21" name="Text 19"/>
          <p:cNvSpPr/>
          <p:nvPr/>
        </p:nvSpPr>
        <p:spPr>
          <a:xfrm>
            <a:off x="2889504" y="277977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</a:t>
            </a:r>
            <a:endParaRPr lang="ja-JP" sz="1400" dirty="0"/>
          </a:p>
        </p:txBody>
      </p:sp>
      <p:sp>
        <p:nvSpPr>
          <p:cNvPr id="22" name="Text 20"/>
          <p:cNvSpPr/>
          <p:nvPr/>
        </p:nvSpPr>
        <p:spPr>
          <a:xfrm>
            <a:off x="2889504" y="302666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Embedding</a:t>
            </a:r>
            <a:endParaRPr lang="ja-JP" sz="1250" dirty="0"/>
          </a:p>
        </p:txBody>
      </p:sp>
      <p:sp>
        <p:nvSpPr>
          <p:cNvPr id="23" name="Text 21"/>
          <p:cNvSpPr/>
          <p:nvPr/>
        </p:nvSpPr>
        <p:spPr>
          <a:xfrm>
            <a:off x="2889504" y="341071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言語モデルで概要文を意味ベクトルへ写像。</a:t>
            </a:r>
            <a:endParaRPr lang="ja-JP" sz="950" dirty="0"/>
          </a:p>
        </p:txBody>
      </p:sp>
      <p:sp>
        <p:nvSpPr>
          <p:cNvPr id="24" name="Shape 22"/>
          <p:cNvSpPr/>
          <p:nvPr/>
        </p:nvSpPr>
        <p:spPr>
          <a:xfrm>
            <a:off x="2889504" y="3886200"/>
            <a:ext cx="25603" cy="512064"/>
          </a:xfrm>
          <a:prstGeom prst="rect">
            <a:avLst/>
          </a:prstGeom>
          <a:solidFill>
            <a:srgbClr val="9A7B3F"/>
          </a:solidFill>
          <a:ln/>
        </p:spPr>
      </p:sp>
      <p:sp>
        <p:nvSpPr>
          <p:cNvPr id="25" name="Text 23"/>
          <p:cNvSpPr/>
          <p:nvPr/>
        </p:nvSpPr>
        <p:spPr>
          <a:xfrm>
            <a:off x="2999232" y="38679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00" b="1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前処理が鍵。</a:t>
            </a:r>
            <a:pPr indent="0" marL="0">
              <a:lnSpc>
                <a:spcPct val="112000"/>
              </a:lnSpc>
              <a:buNone/>
            </a:pPr>
            <a:r>
              <a:rPr lang="ja-JP" altLang="en-US" sz="900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正規化＋次元圧縮（PCA / UMAP）を推奨。</a:t>
            </a:r>
            <a:endParaRPr lang="ja-JP" sz="900" dirty="0"/>
          </a:p>
        </p:txBody>
      </p:sp>
      <p:sp>
        <p:nvSpPr>
          <p:cNvPr id="26" name="Text 24"/>
          <p:cNvSpPr/>
          <p:nvPr/>
        </p:nvSpPr>
        <p:spPr>
          <a:xfrm>
            <a:off x="5102352" y="277977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</a:t>
            </a:r>
            <a:endParaRPr lang="ja-JP" sz="1400" dirty="0"/>
          </a:p>
        </p:txBody>
      </p:sp>
      <p:sp>
        <p:nvSpPr>
          <p:cNvPr id="27" name="Text 25"/>
          <p:cNvSpPr/>
          <p:nvPr/>
        </p:nvSpPr>
        <p:spPr>
          <a:xfrm>
            <a:off x="5102352" y="302666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KMeans クラスタリング</a:t>
            </a:r>
            <a:endParaRPr lang="ja-JP" sz="1250" dirty="0"/>
          </a:p>
        </p:txBody>
      </p:sp>
      <p:sp>
        <p:nvSpPr>
          <p:cNvPr id="28" name="Text 26"/>
          <p:cNvSpPr/>
          <p:nvPr/>
        </p:nvSpPr>
        <p:spPr>
          <a:xfrm>
            <a:off x="5102352" y="341071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内容の近さで書籍をグループ化。</a:t>
            </a:r>
            <a:endParaRPr lang="ja-JP" sz="950" dirty="0"/>
          </a:p>
        </p:txBody>
      </p:sp>
      <p:sp>
        <p:nvSpPr>
          <p:cNvPr id="29" name="Shape 27"/>
          <p:cNvSpPr/>
          <p:nvPr/>
        </p:nvSpPr>
        <p:spPr>
          <a:xfrm>
            <a:off x="5102352" y="3886200"/>
            <a:ext cx="25603" cy="512064"/>
          </a:xfrm>
          <a:prstGeom prst="rect">
            <a:avLst/>
          </a:prstGeom>
          <a:solidFill>
            <a:srgbClr val="9A7B3F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8679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00" b="1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 の決定。</a:t>
            </a:r>
            <a:pPr indent="0" marL="0">
              <a:lnSpc>
                <a:spcPct val="112000"/>
              </a:lnSpc>
              <a:buNone/>
            </a:pPr>
            <a:r>
              <a:rPr lang="ja-JP" altLang="en-US" sz="900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エルボー法＋シルエット係数＋業務的な解釈性。</a:t>
            </a:r>
            <a:endParaRPr lang="ja-JP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277977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</a:t>
            </a:r>
            <a:endParaRPr lang="ja-JP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302666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解釈・タグ付け</a:t>
            </a:r>
            <a:endParaRPr lang="ja-JP" sz="1250" dirty="0"/>
          </a:p>
        </p:txBody>
      </p:sp>
      <p:sp>
        <p:nvSpPr>
          <p:cNvPr id="33" name="Text 31"/>
          <p:cNvSpPr/>
          <p:nvPr/>
        </p:nvSpPr>
        <p:spPr>
          <a:xfrm>
            <a:off x="7315200" y="341071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TF-IDF上位語などでクラスターにキーワードを付与し意味づけ。</a:t>
            </a:r>
            <a:endParaRPr lang="ja-JP" sz="950" dirty="0"/>
          </a:p>
        </p:txBody>
      </p:sp>
      <p:sp>
        <p:nvSpPr>
          <p:cNvPr id="34" name="Text 32"/>
          <p:cNvSpPr/>
          <p:nvPr/>
        </p:nvSpPr>
        <p:spPr>
          <a:xfrm>
            <a:off x="9528048" y="277977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05</a:t>
            </a:r>
            <a:endParaRPr lang="ja-JP" sz="1400" dirty="0"/>
          </a:p>
        </p:txBody>
      </p:sp>
      <p:sp>
        <p:nvSpPr>
          <p:cNvPr id="35" name="Text 33"/>
          <p:cNvSpPr/>
          <p:nvPr/>
        </p:nvSpPr>
        <p:spPr>
          <a:xfrm>
            <a:off x="9528048" y="302666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品質評価</a:t>
            </a:r>
            <a:endParaRPr lang="ja-JP" sz="1250" dirty="0"/>
          </a:p>
        </p:txBody>
      </p:sp>
      <p:sp>
        <p:nvSpPr>
          <p:cNvPr id="36" name="Text 34"/>
          <p:cNvSpPr/>
          <p:nvPr/>
        </p:nvSpPr>
        <p:spPr>
          <a:xfrm>
            <a:off x="9528048" y="341071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分類の純度を検証。</a:t>
            </a:r>
            <a:endParaRPr lang="ja-JP" sz="950" dirty="0"/>
          </a:p>
        </p:txBody>
      </p:sp>
      <p:sp>
        <p:nvSpPr>
          <p:cNvPr id="37" name="Shape 35"/>
          <p:cNvSpPr/>
          <p:nvPr/>
        </p:nvSpPr>
        <p:spPr>
          <a:xfrm>
            <a:off x="9528048" y="3749040"/>
            <a:ext cx="25603" cy="722376"/>
          </a:xfrm>
          <a:prstGeom prst="rect">
            <a:avLst/>
          </a:prstGeom>
          <a:solidFill>
            <a:srgbClr val="9A7B3F"/>
          </a:solidFill>
          <a:ln/>
        </p:spPr>
      </p:sp>
      <p:sp>
        <p:nvSpPr>
          <p:cNvPr id="38" name="Text 36"/>
          <p:cNvSpPr/>
          <p:nvPr/>
        </p:nvSpPr>
        <p:spPr>
          <a:xfrm>
            <a:off x="9637776" y="37307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00" b="1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純度＝Purity</a:t>
            </a:r>
            <a:pPr indent="0" marL="0">
              <a:lnSpc>
                <a:spcPct val="112000"/>
              </a:lnSpc>
              <a:buNone/>
            </a:pPr>
            <a:r>
              <a:rPr lang="ja-JP" altLang="en-US" sz="900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（クラスター内が単一ジャンルに寄る割合）。ジャンルラベルがあるため Purity / NMI / ARI で測定。</a:t>
            </a:r>
            <a:endParaRPr lang="ja-JP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2245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spc="250" kern="0" dirty="0">
                <a:solidFill>
                  <a:srgbClr val="AEB6C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06–08 ｜ 売上予測</a:t>
            </a:r>
            <a:endParaRPr lang="ja-JP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4338828"/>
            <a:ext cx="8138160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4517136"/>
            <a:ext cx="0" cy="182880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4517136"/>
            <a:ext cx="0" cy="182880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45171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06</a:t>
            </a:r>
            <a:endParaRPr lang="ja-JP" sz="1400" dirty="0"/>
          </a:p>
        </p:txBody>
      </p:sp>
      <p:sp>
        <p:nvSpPr>
          <p:cNvPr id="44" name="Text 42"/>
          <p:cNvSpPr/>
          <p:nvPr/>
        </p:nvSpPr>
        <p:spPr>
          <a:xfrm>
            <a:off x="676656" y="476402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特徴量抽出（2層）</a:t>
            </a:r>
            <a:endParaRPr lang="ja-JP" sz="1250" dirty="0"/>
          </a:p>
        </p:txBody>
      </p:sp>
      <p:sp>
        <p:nvSpPr>
          <p:cNvPr id="45" name="Text 43"/>
          <p:cNvSpPr/>
          <p:nvPr/>
        </p:nvSpPr>
        <p:spPr>
          <a:xfrm>
            <a:off x="676656" y="510235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95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書籍 </a:t>
            </a:r>
            <a:pPr indent="0" marL="0">
              <a:lnSpc>
                <a:spcPct val="110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クラスターID／価格／典型度／著者／季節</a:t>
            </a:r>
            <a:endParaRPr lang="ja-JP" sz="950" dirty="0"/>
          </a:p>
        </p:txBody>
      </p:sp>
      <p:sp>
        <p:nvSpPr>
          <p:cNvPr id="46" name="Text 44"/>
          <p:cNvSpPr/>
          <p:nvPr/>
        </p:nvSpPr>
        <p:spPr>
          <a:xfrm>
            <a:off x="676656" y="53949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95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 </a:t>
            </a:r>
            <a:pPr indent="0" marL="0">
              <a:lnSpc>
                <a:spcPct val="110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地域／規模／立地／商圏</a:t>
            </a:r>
            <a:endParaRPr lang="ja-JP" sz="950" dirty="0"/>
          </a:p>
        </p:txBody>
      </p:sp>
      <p:sp>
        <p:nvSpPr>
          <p:cNvPr id="47" name="Shape 45"/>
          <p:cNvSpPr/>
          <p:nvPr/>
        </p:nvSpPr>
        <p:spPr>
          <a:xfrm>
            <a:off x="676656" y="5779008"/>
            <a:ext cx="25603" cy="841248"/>
          </a:xfrm>
          <a:prstGeom prst="rect">
            <a:avLst/>
          </a:prstGeom>
          <a:solidFill>
            <a:srgbClr val="A4453A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" y="5760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900" b="1" dirty="0">
                <a:solidFill>
                  <a:srgbClr val="7F352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要確認。</a:t>
            </a:r>
            <a:pPr indent="0" marL="0">
              <a:lnSpc>
                <a:spcPct val="114000"/>
              </a:lnSpc>
              <a:buNone/>
            </a:pPr>
            <a:r>
              <a:rPr lang="ja-JP" altLang="en-US" sz="900" dirty="0">
                <a:solidFill>
                  <a:srgbClr val="7F352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過去実績の販売数が「供給が潤沢な状態の販売」か「供給が打ち切られた状態の販売」かを区別する必要あり。</a:t>
            </a:r>
            <a:endParaRPr lang="ja-JP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4517136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</a:t>
            </a:r>
            <a:endParaRPr lang="ja-JP" sz="1400" dirty="0"/>
          </a:p>
        </p:txBody>
      </p:sp>
      <p:sp>
        <p:nvSpPr>
          <p:cNvPr id="50" name="Text 48"/>
          <p:cNvSpPr/>
          <p:nvPr/>
        </p:nvSpPr>
        <p:spPr>
          <a:xfrm>
            <a:off x="3803904" y="476402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予測モデル（一本のモデル）</a:t>
            </a:r>
            <a:endParaRPr lang="ja-JP" sz="1250" dirty="0"/>
          </a:p>
        </p:txBody>
      </p:sp>
      <p:sp>
        <p:nvSpPr>
          <p:cNvPr id="51" name="Text 49"/>
          <p:cNvSpPr/>
          <p:nvPr/>
        </p:nvSpPr>
        <p:spPr>
          <a:xfrm>
            <a:off x="3803904" y="510235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入力 </a:t>
            </a:r>
            <a:pPr indent="0" marL="0"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書籍変数＋店舗変数　</a:t>
            </a:r>
            <a:pPr indent="0" marL="0">
              <a:buNone/>
            </a:pPr>
            <a:r>
              <a:rPr lang="ja-JP" altLang="en-US" sz="95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出力 </a:t>
            </a:r>
            <a:pPr indent="0" marL="0"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新刊 × 店舗 の販売冊数</a:t>
            </a:r>
            <a:endParaRPr lang="ja-JP" sz="950" dirty="0"/>
          </a:p>
        </p:txBody>
      </p:sp>
      <p:sp>
        <p:nvSpPr>
          <p:cNvPr id="52" name="Shape 50"/>
          <p:cNvSpPr/>
          <p:nvPr/>
        </p:nvSpPr>
        <p:spPr>
          <a:xfrm>
            <a:off x="3803904" y="5468112"/>
            <a:ext cx="25603" cy="530352"/>
          </a:xfrm>
          <a:prstGeom prst="rect">
            <a:avLst/>
          </a:prstGeom>
          <a:solidFill>
            <a:srgbClr val="9A7B3F"/>
          </a:solidFill>
          <a:ln/>
        </p:spPr>
      </p:sp>
      <p:sp>
        <p:nvSpPr>
          <p:cNvPr id="53" name="Text 51"/>
          <p:cNvSpPr/>
          <p:nvPr/>
        </p:nvSpPr>
        <p:spPr>
          <a:xfrm>
            <a:off x="3913632" y="5449824"/>
            <a:ext cx="4443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900" b="1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GBDT</a:t>
            </a:r>
            <a:pPr indent="0" marL="0">
              <a:lnSpc>
                <a:spcPct val="114000"/>
              </a:lnSpc>
              <a:buNone/>
            </a:pPr>
            <a:r>
              <a:rPr lang="ja-JP" altLang="en-US" sz="900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等なら「料理本は地域、小説は著者」といったクラスター別の効き方も交互作用として自動学習。</a:t>
            </a:r>
            <a:endParaRPr lang="ja-JP" sz="900" dirty="0"/>
          </a:p>
        </p:txBody>
      </p:sp>
      <p:sp>
        <p:nvSpPr>
          <p:cNvPr id="54" name="Shape 52"/>
          <p:cNvSpPr/>
          <p:nvPr/>
        </p:nvSpPr>
        <p:spPr>
          <a:xfrm>
            <a:off x="3803904" y="6089904"/>
            <a:ext cx="25603" cy="530352"/>
          </a:xfrm>
          <a:prstGeom prst="rect">
            <a:avLst/>
          </a:prstGeom>
          <a:solidFill>
            <a:srgbClr val="5A6B8C"/>
          </a:solidFill>
          <a:ln/>
        </p:spPr>
      </p:sp>
      <p:sp>
        <p:nvSpPr>
          <p:cNvPr id="55" name="Text 53"/>
          <p:cNvSpPr/>
          <p:nvPr/>
        </p:nvSpPr>
        <p:spPr>
          <a:xfrm>
            <a:off x="3913632" y="6071616"/>
            <a:ext cx="4443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900" b="1" dirty="0">
                <a:solidFill>
                  <a:srgbClr val="4653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選択肢。</a:t>
            </a:r>
            <a:pPr indent="0" marL="0">
              <a:lnSpc>
                <a:spcPct val="114000"/>
              </a:lnSpc>
              <a:buNone/>
            </a:pPr>
            <a:r>
              <a:rPr lang="ja-JP" altLang="en-US" sz="900" dirty="0">
                <a:solidFill>
                  <a:srgbClr val="4653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クラスターごとに個別モデルを作る案もあり。データ量次第でメカニズム差を強く捉えうるが、実証（バックテスト）で決定。</a:t>
            </a:r>
            <a:endParaRPr lang="ja-JP" sz="900" dirty="0"/>
          </a:p>
        </p:txBody>
      </p:sp>
      <p:sp>
        <p:nvSpPr>
          <p:cNvPr id="56" name="Text 54"/>
          <p:cNvSpPr/>
          <p:nvPr/>
        </p:nvSpPr>
        <p:spPr>
          <a:xfrm>
            <a:off x="8631936" y="45171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2331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08</a:t>
            </a:r>
            <a:endParaRPr lang="ja-JP" sz="1400" dirty="0"/>
          </a:p>
        </p:txBody>
      </p:sp>
      <p:sp>
        <p:nvSpPr>
          <p:cNvPr id="57" name="Text 55"/>
          <p:cNvSpPr/>
          <p:nvPr/>
        </p:nvSpPr>
        <p:spPr>
          <a:xfrm>
            <a:off x="8631936" y="476402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1D253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精度評価・改善</a:t>
            </a:r>
            <a:endParaRPr lang="ja-JP" sz="1250" dirty="0"/>
          </a:p>
        </p:txBody>
      </p:sp>
      <p:sp>
        <p:nvSpPr>
          <p:cNvPr id="58" name="Text 56"/>
          <p:cNvSpPr/>
          <p:nvPr/>
        </p:nvSpPr>
        <p:spPr>
          <a:xfrm>
            <a:off x="8631936" y="510235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95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過去の実販売データと照合し精度を測定・改善。</a:t>
            </a:r>
            <a:endParaRPr lang="ja-JP" sz="950" dirty="0"/>
          </a:p>
        </p:txBody>
      </p:sp>
      <p:sp>
        <p:nvSpPr>
          <p:cNvPr id="59" name="Shape 57"/>
          <p:cNvSpPr/>
          <p:nvPr/>
        </p:nvSpPr>
        <p:spPr>
          <a:xfrm>
            <a:off x="8631936" y="5596128"/>
            <a:ext cx="25603" cy="713232"/>
          </a:xfrm>
          <a:prstGeom prst="rect">
            <a:avLst/>
          </a:prstGeom>
          <a:solidFill>
            <a:srgbClr val="9A7B3F"/>
          </a:solidFill>
          <a:ln/>
        </p:spPr>
      </p:sp>
      <p:sp>
        <p:nvSpPr>
          <p:cNvPr id="60" name="Text 58"/>
          <p:cNvSpPr/>
          <p:nvPr/>
        </p:nvSpPr>
        <p:spPr>
          <a:xfrm>
            <a:off x="8741664" y="5577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900" b="1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時系列分割（バックテスト）</a:t>
            </a:r>
            <a:pPr indent="0" marL="0">
              <a:lnSpc>
                <a:spcPct val="114000"/>
              </a:lnSpc>
              <a:buNone/>
            </a:pPr>
            <a:r>
              <a:rPr lang="ja-JP" altLang="en-US" sz="900" dirty="0">
                <a:solidFill>
                  <a:srgbClr val="5D4E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でリーク回避。指標は MAE / RMSE / MAPE。</a:t>
            </a:r>
            <a:endParaRPr lang="ja-JP" sz="900" dirty="0"/>
          </a:p>
        </p:txBody>
      </p:sp>
      <p:sp>
        <p:nvSpPr>
          <p:cNvPr id="61" name="Shape 59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6510528"/>
            <a:ext cx="164592" cy="22860"/>
          </a:xfrm>
          <a:prstGeom prst="rect">
            <a:avLst/>
          </a:prstGeom>
          <a:solidFill>
            <a:srgbClr val="9A7B3F"/>
          </a:solidFill>
          <a:ln/>
        </p:spPr>
      </p:sp>
      <p:sp>
        <p:nvSpPr>
          <p:cNvPr id="63" name="Text 61"/>
          <p:cNvSpPr/>
          <p:nvPr/>
        </p:nvSpPr>
        <p:spPr>
          <a:xfrm>
            <a:off x="768096" y="64373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重要ポイント・想定</a:t>
            </a:r>
            <a:endParaRPr lang="ja-JP" sz="900" dirty="0"/>
          </a:p>
        </p:txBody>
      </p:sp>
      <p:sp>
        <p:nvSpPr>
          <p:cNvPr id="64" name="Shape 62"/>
          <p:cNvSpPr/>
          <p:nvPr/>
        </p:nvSpPr>
        <p:spPr>
          <a:xfrm>
            <a:off x="2651760" y="6510528"/>
            <a:ext cx="164592" cy="22860"/>
          </a:xfrm>
          <a:prstGeom prst="rect">
            <a:avLst/>
          </a:prstGeom>
          <a:solidFill>
            <a:srgbClr val="5A6B8C"/>
          </a:solidFill>
          <a:ln/>
        </p:spPr>
      </p:sp>
      <p:sp>
        <p:nvSpPr>
          <p:cNvPr id="65" name="Text 63"/>
          <p:cNvSpPr/>
          <p:nvPr/>
        </p:nvSpPr>
        <p:spPr>
          <a:xfrm>
            <a:off x="2871216" y="64373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設計上の選択肢</a:t>
            </a:r>
            <a:endParaRPr lang="ja-JP" sz="900" dirty="0"/>
          </a:p>
        </p:txBody>
      </p:sp>
      <p:sp>
        <p:nvSpPr>
          <p:cNvPr id="66" name="Shape 64"/>
          <p:cNvSpPr/>
          <p:nvPr/>
        </p:nvSpPr>
        <p:spPr>
          <a:xfrm>
            <a:off x="4572000" y="6510528"/>
            <a:ext cx="164592" cy="22860"/>
          </a:xfrm>
          <a:prstGeom prst="rect">
            <a:avLst/>
          </a:prstGeom>
          <a:solidFill>
            <a:srgbClr val="A4453A"/>
          </a:solidFill>
          <a:ln/>
        </p:spPr>
      </p:sp>
      <p:sp>
        <p:nvSpPr>
          <p:cNvPr id="67" name="Text 65"/>
          <p:cNvSpPr/>
          <p:nvPr/>
        </p:nvSpPr>
        <p:spPr>
          <a:xfrm>
            <a:off x="4791456" y="64373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737D9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要確認</a:t>
            </a:r>
            <a:endParaRPr lang="ja-JP" sz="900" dirty="0"/>
          </a:p>
        </p:txBody>
      </p:sp>
      <p:sp>
        <p:nvSpPr>
          <p:cNvPr id="68" name="Text 66"/>
          <p:cNvSpPr/>
          <p:nvPr/>
        </p:nvSpPr>
        <p:spPr>
          <a:xfrm>
            <a:off x="8229600" y="64373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AEB6C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現状ロジックの中立的な整理（改善の方向性は次フェーズ）</a:t>
            </a:r>
            <a:endParaRPr lang="ja-JP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出版物 売れ行き予測シミュレーター 現状ロジック</dc:title>
  <dc:subject>PptxGenJS Presentation</dc:subject>
  <dc:creator>Pubtex Proposal</dc:creator>
  <cp:lastModifiedBy>Pubtex Proposal</cp:lastModifiedBy>
  <cp:revision>1</cp:revision>
  <dcterms:created xsi:type="dcterms:W3CDTF">2026-06-23T06:28:59Z</dcterms:created>
  <dcterms:modified xsi:type="dcterms:W3CDTF">2026-06-23T06:28:59Z</dcterms:modified>
</cp:coreProperties>
</file>