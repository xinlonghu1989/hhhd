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"/>
          </a:xfrm>
          <a:prstGeom prst="rect">
            <a:avLst/>
          </a:prstGeom>
          <a:solidFill>
            <a:srgbClr val="23314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2918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08D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PUBTEX ｜ SALES FORECAST SIMULATOR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出版物 売れ行き予測シミュレーター ― 現状ロジック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前フェーズ成果物の処理フローと重要ポイントの整理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46920" y="566928"/>
            <a:ext cx="19659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A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46920" y="56692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本フェーズ：内容理解 → 売上予測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481328"/>
            <a:ext cx="11064240" cy="841248"/>
          </a:xfrm>
          <a:prstGeom prst="rect">
            <a:avLst/>
          </a:prstGeom>
          <a:solidFill>
            <a:srgbClr val="FBFCFE"/>
          </a:solidFill>
          <a:ln w="12700">
            <a:solidFill>
              <a:srgbClr val="EEF1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81328"/>
            <a:ext cx="45720" cy="841248"/>
          </a:xfrm>
          <a:prstGeom prst="rect">
            <a:avLst/>
          </a:prstGeom>
          <a:solidFill>
            <a:srgbClr val="B08D57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5910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予測ターゲット＝新刊（販売実績ゼロ）の店舗別売上。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実績のない新刊を、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内容が似た既存本の販売パターンに当てはめて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予測する（コールドスタート対策）ことが本ロジックの狙い。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198424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最終出力＝</a:t>
            </a:r>
            <a:pPr indent="0" marL="0">
              <a:buNone/>
            </a:pPr>
            <a:r>
              <a:rPr lang="en-US" sz="1050" b="1" dirty="0">
                <a:solidFill>
                  <a:srgbClr val="B08D5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新刊 × 店舗 の販売冊数</a:t>
            </a:r>
            <a:pPr indent="0" marL="0">
              <a:buNone/>
            </a:pPr>
            <a:r>
              <a:rPr lang="en-US" sz="10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／　配本数の決定（最適化層）は次フェーズ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248716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01–05 ｜ コンテンツのクラスタリング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0" y="2601468"/>
            <a:ext cx="8138160" cy="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61488" y="2779776"/>
            <a:ext cx="0" cy="141732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74336" y="2779776"/>
            <a:ext cx="0" cy="141732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87184" y="2779776"/>
            <a:ext cx="0" cy="141732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400032" y="2779776"/>
            <a:ext cx="0" cy="141732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2779776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76656" y="3026664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概要文（約400字）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6656" y="341071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各出版物の内容記述をテキスト入力として取得。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889504" y="2779776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89504" y="3026664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Embedding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889504" y="341071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言語モデルで概要文を意味ベクトルへ写像。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889504" y="3886200"/>
            <a:ext cx="25603" cy="512064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25" name="Text 23"/>
          <p:cNvSpPr/>
          <p:nvPr/>
        </p:nvSpPr>
        <p:spPr>
          <a:xfrm>
            <a:off x="2999232" y="38679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前処理が鍵。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正規化＋次元圧縮（PCA / UMAP）を推奨。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02352" y="2779776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02352" y="3026664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KMeans クラスタリング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02352" y="341071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内容の近さで書籍をグループ化。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102352" y="3886200"/>
            <a:ext cx="25603" cy="512064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3867912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 の決定。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エルボー法＋シルエット係数＋業務的な解釈性。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0" y="2779776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3026664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解釈・タグ付け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315200" y="341071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TF-IDF上位語などでクラスターにキーワードを付与し意味づけ。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528048" y="2779776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528048" y="3026664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品質評価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528048" y="3410712"/>
            <a:ext cx="1956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分類の純度を検証。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528048" y="3749040"/>
            <a:ext cx="25603" cy="722376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38" name="Text 36"/>
          <p:cNvSpPr/>
          <p:nvPr/>
        </p:nvSpPr>
        <p:spPr>
          <a:xfrm>
            <a:off x="9637776" y="373075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純度＝Purity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（クラスター内が単一ジャンルに寄る割合）。ジャンルラベルがあるため Purity / NMI / ARI で測定。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422452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06–08 ｜ 売上予測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474720" y="4338828"/>
            <a:ext cx="8138160" cy="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657600" y="4517136"/>
            <a:ext cx="0" cy="182880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503920" y="4517136"/>
            <a:ext cx="0" cy="182880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45171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676656" y="4764024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特徴量抽出（2層）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76656" y="5102352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書籍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クラスターID／価格／典型度／著者／季節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76656" y="539496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店舗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地域／規模／立地／商圏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76656" y="5779008"/>
            <a:ext cx="25603" cy="841248"/>
          </a:xfrm>
          <a:prstGeom prst="rect">
            <a:avLst/>
          </a:prstGeom>
          <a:solidFill>
            <a:srgbClr val="A4453A"/>
          </a:solidFill>
          <a:ln/>
        </p:spPr>
      </p:sp>
      <p:sp>
        <p:nvSpPr>
          <p:cNvPr id="48" name="Text 46"/>
          <p:cNvSpPr/>
          <p:nvPr/>
        </p:nvSpPr>
        <p:spPr>
          <a:xfrm>
            <a:off x="786384" y="5760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7F35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要確認。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7F35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過去実績の販売数が「供給が潤沢な状態の販売」か「供給が打ち切られた状態の販売」かを区別する必要あり。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803904" y="4517136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3803904" y="476402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予測モデル（一本のモデル）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3803904" y="5102352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 </a:t>
            </a:r>
            <a:pPr indent="0" marL="0"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書籍変数＋店舗変数　</a:t>
            </a:r>
            <a:pPr indent="0" marL="0">
              <a:buNone/>
            </a:pPr>
            <a:r>
              <a:rPr lang="en-US" sz="95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出力 </a:t>
            </a:r>
            <a:pPr indent="0" marL="0"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新刊 × 店舗 の販売冊数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803904" y="5468112"/>
            <a:ext cx="25603" cy="530352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53" name="Text 51"/>
          <p:cNvSpPr/>
          <p:nvPr/>
        </p:nvSpPr>
        <p:spPr>
          <a:xfrm>
            <a:off x="3913632" y="5449824"/>
            <a:ext cx="4443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GBDT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等なら「料理本は地域、小説は著者」といったクラスター別の効き方も交互作用として自動学習。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803904" y="6089904"/>
            <a:ext cx="25603" cy="530352"/>
          </a:xfrm>
          <a:prstGeom prst="rect">
            <a:avLst/>
          </a:prstGeom>
          <a:solidFill>
            <a:srgbClr val="5A6B8C"/>
          </a:solidFill>
          <a:ln/>
        </p:spPr>
      </p:sp>
      <p:sp>
        <p:nvSpPr>
          <p:cNvPr id="55" name="Text 53"/>
          <p:cNvSpPr/>
          <p:nvPr/>
        </p:nvSpPr>
        <p:spPr>
          <a:xfrm>
            <a:off x="3913632" y="6071616"/>
            <a:ext cx="4443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465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選択肢。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465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クラスターごとに個別モデルを作る案もあり。データ量次第でメカニズム差を強く捉えうるが、実証（バックテスト）で決定。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8631936" y="451713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31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8631936" y="4764024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5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精度評価・改善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8631936" y="5102352"/>
            <a:ext cx="2852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過去の実販売データと照合し精度を測定・改善。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631936" y="5596128"/>
            <a:ext cx="25603" cy="713232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60" name="Text 58"/>
          <p:cNvSpPr/>
          <p:nvPr/>
        </p:nvSpPr>
        <p:spPr>
          <a:xfrm>
            <a:off x="8741664" y="55778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時系列分割（バックテスト）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5D4E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でリーク回避。指標は MAE / RMSE / MAPE。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48640" y="6364224"/>
            <a:ext cx="11064240" cy="0"/>
          </a:xfrm>
          <a:prstGeom prst="line">
            <a:avLst/>
          </a:prstGeom>
          <a:noFill/>
          <a:ln w="12700">
            <a:solidFill>
              <a:srgbClr val="EEF1F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48640" y="6510528"/>
            <a:ext cx="164592" cy="22860"/>
          </a:xfrm>
          <a:prstGeom prst="rect">
            <a:avLst/>
          </a:prstGeom>
          <a:solidFill>
            <a:srgbClr val="9A7B3F"/>
          </a:solidFill>
          <a:ln/>
        </p:spPr>
      </p:sp>
      <p:sp>
        <p:nvSpPr>
          <p:cNvPr id="63" name="Text 61"/>
          <p:cNvSpPr/>
          <p:nvPr/>
        </p:nvSpPr>
        <p:spPr>
          <a:xfrm>
            <a:off x="768096" y="64373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重要ポイント・想定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2651760" y="6510528"/>
            <a:ext cx="164592" cy="22860"/>
          </a:xfrm>
          <a:prstGeom prst="rect">
            <a:avLst/>
          </a:prstGeom>
          <a:solidFill>
            <a:srgbClr val="5A6B8C"/>
          </a:solidFill>
          <a:ln/>
        </p:spPr>
      </p:sp>
      <p:sp>
        <p:nvSpPr>
          <p:cNvPr id="65" name="Text 63"/>
          <p:cNvSpPr/>
          <p:nvPr/>
        </p:nvSpPr>
        <p:spPr>
          <a:xfrm>
            <a:off x="2871216" y="64373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設計上の選択肢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4572000" y="6510528"/>
            <a:ext cx="164592" cy="22860"/>
          </a:xfrm>
          <a:prstGeom prst="rect">
            <a:avLst/>
          </a:prstGeom>
          <a:solidFill>
            <a:srgbClr val="A4453A"/>
          </a:solidFill>
          <a:ln/>
        </p:spPr>
      </p:sp>
      <p:sp>
        <p:nvSpPr>
          <p:cNvPr id="67" name="Text 65"/>
          <p:cNvSpPr/>
          <p:nvPr/>
        </p:nvSpPr>
        <p:spPr>
          <a:xfrm>
            <a:off x="4791456" y="64373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37D9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要確認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8229600" y="643737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6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現状ロジックの中立的な整理（改善の方向性は次フェーズ）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出版物 売れ行き予測シミュレーター 現状ロジック</dc:title>
  <dc:subject>PptxGenJS Presentation</dc:subject>
  <dc:creator>Pubtex Proposal</dc:creator>
  <cp:lastModifiedBy>Pubtex Proposal</cp:lastModifiedBy>
  <cp:revision>1</cp:revision>
  <dcterms:created xsi:type="dcterms:W3CDTF">2026-06-23T06:01:12Z</dcterms:created>
  <dcterms:modified xsi:type="dcterms:W3CDTF">2026-06-23T06:01:12Z</dcterms:modified>
</cp:coreProperties>
</file>